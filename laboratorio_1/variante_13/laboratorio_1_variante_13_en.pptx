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774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r>
              <a:t>Data learning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3600"/>
            <a:ext cx="85206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Course “Machine Learning” — Laboratory work</a:t>
            </a:r>
            <a:endParaRPr/>
          </a:p>
          <a:p>
            <a:pPr>
              <a:defRPr sz="1600"/>
            </a:pPr>
            <a:r>
              <a:t>Data Analysis Laboratory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Topic: Linear regression and outlier detection (Variant 1-13)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[Surname] I.O., [Group], Variant 1-13</a:t>
            </a: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10450" y="4686374"/>
            <a:ext cx="812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" sz="1800"/>
              <a:t>23</a:t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ab_logo.png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474" y="47899"/>
            <a:ext cx="1085755" cy="1219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phi.jpg"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50" y="95800"/>
            <a:ext cx="1240423" cy="121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60" name="Google Shape;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9112" y="95800"/>
            <a:ext cx="5235976" cy="8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2743825" y="860025"/>
            <a:ext cx="37989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</a:rPr>
              <a:t>Курс “Машинное обучение”</a:t>
            </a:r>
            <a:endParaRPr i="0" sz="1800" u="none" cap="none" strike="noStrike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Лабораторная работа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Initial data</a:t>
            </a: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Dataset: 110 observations, variables x (input) and y (output).</a:t>
            </a:r>
            <a:endParaRPr/>
          </a:p>
          <a:p>
            <a:pPr>
              <a:defRPr sz="1600"/>
            </a:pPr>
            <a:r>
              <a:t>Holdout split 70/30 (random_state=42): 77 training, 33 test.</a:t>
            </a:r>
          </a:p>
          <a:p>
            <a:pPr>
              <a:defRPr sz="1600"/>
            </a:pPr>
            <a:r>
              <a:t>The relationship is roughly linear, with a group of extreme points at x≈3–4.5, y≈7–8.5.</a:t>
            </a:r>
          </a:p>
        </p:txBody>
      </p:sp>
      <p:pic>
        <p:nvPicPr>
          <p:cNvPr id="68" name="Picture 67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428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Methods and formulas used</a:t>
            </a: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Model: y = β0 + β1·x + ε</a:t>
            </a:r>
            <a:endParaRPr/>
          </a:p>
          <a:p>
            <a:pPr>
              <a:defRPr sz="1600"/>
            </a:pPr>
            <a:r>
              <a:t>OLS: β1 = Σ(xi−x̄)(yi−ȳ) / Σ(xi−x̄)² ; β0 = ȳ − β1·x̄</a:t>
            </a:r>
          </a:p>
          <a:p>
            <a:pPr>
              <a:defRPr sz="1600"/>
            </a:pPr>
            <a:r>
              <a:t>R² = 1 − SSE/SST</a:t>
            </a:r>
          </a:p>
          <a:p>
            <a:pPr>
              <a:defRPr sz="1600"/>
            </a:pPr>
            <a:r>
              <a:t>Standardized residuals: ri = ei / (σ̂·√(1−hi))</a:t>
            </a:r>
          </a:p>
          <a:p>
            <a:pPr>
              <a:defRPr sz="1600"/>
            </a:pPr>
            <a:r>
              <a:t>Leverage: hi (diagonal of the hat matrix)</a:t>
            </a:r>
          </a:p>
          <a:p>
            <a:pPr>
              <a:defRPr sz="1600"/>
            </a:pPr>
            <a:r>
              <a:t>Cook's distance: Di = (ei² / (p·σ̂²)) · hi / (1−hi)²</a:t>
            </a:r>
          </a:p>
          <a:p>
            <a:pPr>
              <a:defRPr sz="1600"/>
            </a:pPr>
            <a:r>
              <a:t>Filtering threshold: Di &gt; 3·mean(D)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Research results</a:t>
            </a: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Initial OLS model: ŷ = −0.311776 + 0.936361·x</a:t>
            </a:r>
            <a:endParaRPr/>
          </a:p>
          <a:p>
            <a:pPr>
              <a:defRPr sz="1600"/>
            </a:pPr>
            <a:r>
              <a:t>R² train = 0.290399 ; R² test = −0.935444</a:t>
            </a:r>
          </a:p>
          <a:p>
            <a:pPr>
              <a:defRPr sz="1600"/>
            </a:pPr>
            <a:r>
              <a:t>Max |standardized residual| = 2.513206 ; max leverage = 0.097313 ; max Cook = 0.125413</a:t>
            </a:r>
          </a:p>
          <a:p>
            <a:pPr>
              <a:defRPr sz="1600"/>
            </a:pPr>
            <a:r>
              <a:t>Cook threshold = 0.053161 → 10 observations excluded (n train = 67)</a:t>
            </a:r>
          </a:p>
          <a:p>
            <a:pPr>
              <a:defRPr sz="1600"/>
            </a:pPr>
            <a:r>
              <a:t>Filtered model: ŷ = 0.465597 + 0.186327·x</a:t>
            </a:r>
          </a:p>
          <a:p>
            <a:pPr>
              <a:defRPr sz="1600"/>
            </a:pPr>
            <a:r>
              <a:t>R² train = 0.067465 ; R² test = −0.376683</a:t>
            </a:r>
          </a:p>
        </p:txBody>
      </p:sp>
      <p:pic>
        <p:nvPicPr>
          <p:cNvPr id="80" name="Picture 79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74720"/>
            <a:ext cx="2926080" cy="1942489"/>
          </a:xfrm>
          <a:prstGeom prst="rect">
            <a:avLst/>
          </a:prstGeom>
        </p:spPr>
      </p:pic>
      <p:pic>
        <p:nvPicPr>
          <p:cNvPr id="81" name="Picture 80" descr="08_cook_vs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474720"/>
            <a:ext cx="2926080" cy="1817787"/>
          </a:xfrm>
          <a:prstGeom prst="rect">
            <a:avLst/>
          </a:prstGeom>
        </p:spPr>
      </p:pic>
      <p:pic>
        <p:nvPicPr>
          <p:cNvPr id="82" name="Picture 81" descr="10_boxplot_compar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74720"/>
            <a:ext cx="2926080" cy="2080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Conclusions</a:t>
            </a: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1. The initial OLS regression explains only a limited fraction of the variability and generalizes poorly (negative test R²).</a:t>
            </a:r>
            <a:endParaRPr/>
          </a:p>
          <a:p>
            <a:pPr>
              <a:defRPr sz="1600"/>
            </a:pPr>
            <a:r>
              <a:t>2. Standardized residuals, leverage and Cook's distance are complementary diagnostics; no single indicator is sufficient.</a:t>
            </a:r>
          </a:p>
          <a:p>
            <a:pPr>
              <a:defRPr sz="1600"/>
            </a:pPr>
            <a:r>
              <a:t>3. After removing the 10 observations with Cook above the threshold, the slope changes from 0.936 to 0.186: those points strongly influenced the line.</a:t>
            </a:r>
          </a:p>
          <a:p>
            <a:pPr>
              <a:defRPr sz="1600"/>
            </a:pPr>
            <a:r>
              <a:t>4. The test R² improves from −0.935 to −0.377, but remains unsatisfactory.</a:t>
            </a:r>
          </a:p>
          <a:p>
            <a:pPr>
              <a:defRPr sz="1600"/>
            </a:pPr>
            <a:r>
              <a:t>5. Observations should not be removed automatically: check whether they are measurement errors or legitimate cases; explore nonlinear or robust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