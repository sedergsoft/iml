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b="0" i="0" sz="1100" u="none" cap="none" strike="noStrike"/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b="0" i="0" sz="1100" u="none" cap="none" strike="noStrike"/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b="0" i="0" sz="11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381187" y="685800"/>
            <a:ext cx="609629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indent="0"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indent="0"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indent="0"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indent="0"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indent="0"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indent="0"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indent="0"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indent="0"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indent="0"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indent="0"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indent="0"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indent="0"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indent="0"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indent="0"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774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r>
              <a:t>Data learning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3600"/>
            <a:ext cx="85206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Curso «Машинное обучение» — Лабораторная работа</a:t>
            </a:r>
            <a:endParaRPr/>
          </a:p>
          <a:p>
            <a:pPr>
              <a:defRPr sz="1600"/>
            </a:pPr>
            <a:r>
              <a:t>Лаборатория анализа данных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Tema: Regresión lineal y detección de valores atípicos (Variante 1-13)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[Apellido] I.O., [Grupo], Variante 1-13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800"/>
              <a:t>23</a:t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ab_logo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phi.jpg"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png" id="60" name="Google Shape;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i="0" lang="en" sz="1800" u="none" cap="none" strike="noStrike">
                <a:solidFill>
                  <a:schemeClr val="dk2"/>
                </a:solidFill>
              </a:rPr>
              <a:t>Курс “Машинное обучение”</a:t>
            </a:r>
            <a:endParaRPr i="0" sz="1800" u="none" cap="none" strike="noStrike">
              <a:solidFill>
                <a:schemeClr val="dk2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Лабораторная работа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Datos de partida</a:t>
            </a: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Conjunto de datos: 110 observaciones, variables x (entrada) e y (salida).</a:t>
            </a:r>
            <a:endParaRPr/>
          </a:p>
          <a:p>
            <a:pPr>
              <a:defRPr sz="1600"/>
            </a:pPr>
            <a:r>
              <a:t>División holdout 70/30 (random_state=42): 77 entrenamiento, 33 prueba.</a:t>
            </a:r>
          </a:p>
          <a:p>
            <a:pPr>
              <a:defRPr sz="1600"/>
            </a:pPr>
            <a:r>
              <a:t>La relación es aproximadamente lineal, con un grupo de puntos extremos en x≈3–4.5, y≈7–8.5.</a:t>
            </a:r>
          </a:p>
        </p:txBody>
      </p:sp>
      <p:pic>
        <p:nvPicPr>
          <p:cNvPr id="68" name="Picture 67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2428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Métodos y fórmulas utilizadas</a:t>
            </a: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Modelo: y = β0 + β1·x + ε</a:t>
            </a:r>
            <a:endParaRPr/>
          </a:p>
          <a:p>
            <a:pPr>
              <a:defRPr sz="1600"/>
            </a:pPr>
            <a:r>
              <a:t>OLS: β1 = Σ(xi−x̄)(yi−ȳ) / Σ(xi−x̄)² ; β0 = ȳ − β1·x̄</a:t>
            </a:r>
          </a:p>
          <a:p>
            <a:pPr>
              <a:defRPr sz="1600"/>
            </a:pPr>
            <a:r>
              <a:t>R² = 1 − SSE/SST</a:t>
            </a:r>
          </a:p>
          <a:p>
            <a:pPr>
              <a:defRPr sz="1600"/>
            </a:pPr>
            <a:r>
              <a:t>Residuos estandarizados: ri = ei / (σ̂·√(1−hi))</a:t>
            </a:r>
          </a:p>
          <a:p>
            <a:pPr>
              <a:defRPr sz="1600"/>
            </a:pPr>
            <a:r>
              <a:t>Leverage: hi (diagonal de la matriz sombrero)</a:t>
            </a:r>
          </a:p>
          <a:p>
            <a:pPr>
              <a:defRPr sz="1600"/>
            </a:pPr>
            <a:r>
              <a:t>Distancia de Cook: Di = (ei² / (p·σ̂²)) · hi / (1−hi)²</a:t>
            </a:r>
          </a:p>
          <a:p>
            <a:pPr>
              <a:defRPr sz="1600"/>
            </a:pPr>
            <a:r>
              <a:t>Umbral de filtrado: Di &gt; 3·media(D)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Resultados de la investigación</a:t>
            </a: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Modelo OLS inicial: ŷ = −0.311776 + 0.936361·x</a:t>
            </a:r>
            <a:endParaRPr/>
          </a:p>
          <a:p>
            <a:pPr>
              <a:defRPr sz="1600"/>
            </a:pPr>
            <a:r>
              <a:t>R² entrenamiento = 0.290399 ; R² prueba = −0.935444</a:t>
            </a:r>
          </a:p>
          <a:p>
            <a:pPr>
              <a:defRPr sz="1600"/>
            </a:pPr>
            <a:r>
              <a:t>Máx |residuo estandarizado| = 2.513206 ; máx leverage = 0.097313 ; máx Cook = 0.125413</a:t>
            </a:r>
          </a:p>
          <a:p>
            <a:pPr>
              <a:defRPr sz="1600"/>
            </a:pPr>
            <a:r>
              <a:t>Umbral de Cook = 0.053161 → 10 observaciones excluidas (n entrenamiento = 67)</a:t>
            </a:r>
          </a:p>
          <a:p>
            <a:pPr>
              <a:defRPr sz="1600"/>
            </a:pPr>
            <a:r>
              <a:t>Modelo filtrado: ŷ = 0.465597 + 0.186327·x</a:t>
            </a:r>
          </a:p>
          <a:p>
            <a:pPr>
              <a:defRPr sz="1600"/>
            </a:pPr>
            <a:r>
              <a:t>R² entrenamiento = 0.067465 ; R² prueba = −0.376683</a:t>
            </a:r>
          </a:p>
        </p:txBody>
      </p:sp>
      <p:pic>
        <p:nvPicPr>
          <p:cNvPr id="80" name="Picture 79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74720"/>
            <a:ext cx="2926080" cy="1942489"/>
          </a:xfrm>
          <a:prstGeom prst="rect">
            <a:avLst/>
          </a:prstGeom>
        </p:spPr>
      </p:pic>
      <p:pic>
        <p:nvPicPr>
          <p:cNvPr id="81" name="Picture 80" descr="08_cook_vs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474720"/>
            <a:ext cx="2926080" cy="1817787"/>
          </a:xfrm>
          <a:prstGeom prst="rect">
            <a:avLst/>
          </a:prstGeom>
        </p:spPr>
      </p:pic>
      <p:pic>
        <p:nvPicPr>
          <p:cNvPr id="82" name="Picture 81" descr="10_boxplot_compar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474720"/>
            <a:ext cx="2926080" cy="2080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Conclusiones</a:t>
            </a: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1. La regresión OLS inicial explica solo una fracción limitada de la variabilidad y generaliza mal (R² prueba negativo).</a:t>
            </a:r>
            <a:endParaRPr/>
          </a:p>
          <a:p>
            <a:pPr>
              <a:defRPr sz="1600"/>
            </a:pPr>
            <a:r>
              <a:t>2. Residuos estandarizados, leverage y distancia de Cook son diagnósticos complementarios; ningún indicador por sí solo basta.</a:t>
            </a:r>
          </a:p>
          <a:p>
            <a:pPr>
              <a:defRPr sz="1600"/>
            </a:pPr>
            <a:r>
              <a:t>3. Al filtrar las 10 observaciones con Cook por encima del umbral, la pendiente cambia de 0.936 a 0.186: esos puntos influían fuertemente en la recta.</a:t>
            </a:r>
          </a:p>
          <a:p>
            <a:pPr>
              <a:defRPr sz="1600"/>
            </a:pPr>
            <a:r>
              <a:t>4. El R² de prueba mejora de −0.935 a −0.377, aunque sigue siendo insatisfactorio.</a:t>
            </a:r>
          </a:p>
          <a:p>
            <a:pPr>
              <a:defRPr sz="1600"/>
            </a:pPr>
            <a:r>
              <a:t>5. No conviene eliminar observaciones automáticamente: verificar si son errores o casos legítimos; explorar modelos no lineales o robustos.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