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61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4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sz="1100" b="0" i="0" u="none" strike="noStrike" cap="none"/>
            </a:lvl1pPr>
            <a:lvl2pPr marL="914400" marR="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sz="1100" b="0" i="0" u="none" strike="noStrike" cap="none"/>
            </a:lvl2pPr>
            <a:lvl3pPr marL="1371600" marR="0" lvl="2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sz="1100" b="0" i="0" u="none" strike="noStrike" cap="none"/>
            </a:lvl3pPr>
            <a:lvl4pPr marL="1828800" marR="0" lvl="3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sz="1100" b="0" i="0" u="none" strike="noStrike" cap="none"/>
            </a:lvl4pPr>
            <a:lvl5pPr marL="2286000" marR="0" lvl="4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sz="1100" b="0" i="0" u="none" strike="noStrike" cap="none"/>
            </a:lvl5pPr>
            <a:lvl6pPr marL="2743200" marR="0" lvl="5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sz="1100" b="0" i="0" u="none" strike="noStrike" cap="none"/>
            </a:lvl6pPr>
            <a:lvl7pPr marL="3200400" marR="0" lvl="6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  <a:defRPr sz="1100" b="0" i="0" u="none" strike="noStrike" cap="none"/>
            </a:lvl7pPr>
            <a:lvl8pPr marL="3657600" marR="0" lvl="7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  <a:defRPr sz="1100" b="0" i="0" u="none" strike="noStrike" cap="none"/>
            </a:lvl8pPr>
            <a:lvl9pPr marL="4114800" marR="0" lvl="8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■"/>
              <a:defRPr sz="11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82975" y="2068702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ru-RU" dirty="0"/>
              <a:t>Линейная регрессия и обнаружение выбросов 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510450" y="4686374"/>
            <a:ext cx="81231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 b="0" i="0" u="none" strike="noStrike" cap="none" dirty="0" smtClean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" sz="1800" dirty="0" smtClean="0"/>
              <a:t>26</a:t>
            </a:r>
          </a:p>
        </p:txBody>
      </p:sp>
      <p:cxnSp>
        <p:nvCxnSpPr>
          <p:cNvPr id="57" name="Google Shape;57;p13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8" name="Google Shape;58;p13" descr="lab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9474" y="47899"/>
            <a:ext cx="1085755" cy="1219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descr="mephi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50" y="95800"/>
            <a:ext cx="1240423" cy="1218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descr="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69112" y="95800"/>
            <a:ext cx="5235976" cy="8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2743825" y="860025"/>
            <a:ext cx="37989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800" i="0" u="none" strike="noStrike" cap="none">
                <a:solidFill>
                  <a:schemeClr val="dk2"/>
                </a:solidFill>
              </a:rPr>
              <a:t>Курс “Машинное обучение”</a:t>
            </a:r>
            <a:endParaRPr sz="1800" i="0" u="none" strike="noStrike" cap="none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/>
              <a:t>Лабораторная работа</a:t>
            </a:r>
            <a:endParaRPr sz="1400"/>
          </a:p>
        </p:txBody>
      </p:sp>
      <p:sp>
        <p:nvSpPr>
          <p:cNvPr id="11" name="Google Shape;55;p13"/>
          <p:cNvSpPr txBox="1">
            <a:spLocks/>
          </p:cNvSpPr>
          <p:nvPr/>
        </p:nvSpPr>
        <p:spPr>
          <a:xfrm>
            <a:off x="1" y="3313600"/>
            <a:ext cx="9540814" cy="10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dirty="0"/>
              <a:t>Гутьеррес Рей</a:t>
            </a:r>
            <a:r>
              <a:rPr lang="es-419" dirty="0"/>
              <a:t>e</a:t>
            </a:r>
            <a:r>
              <a:rPr lang="ru-RU" dirty="0" smtClean="0"/>
              <a:t>с</a:t>
            </a:r>
            <a:r>
              <a:rPr lang="en-US" dirty="0" smtClean="0"/>
              <a:t> </a:t>
            </a:r>
            <a:r>
              <a:rPr lang="ru-RU" dirty="0" smtClean="0"/>
              <a:t>О</a:t>
            </a:r>
            <a:r>
              <a:rPr lang="en-US" dirty="0" smtClean="0"/>
              <a:t>.</a:t>
            </a:r>
            <a:r>
              <a:rPr lang="ru-RU" dirty="0" smtClean="0"/>
              <a:t> С</a:t>
            </a:r>
            <a:r>
              <a:rPr lang="en-US" dirty="0" smtClean="0"/>
              <a:t>., </a:t>
            </a:r>
            <a:r>
              <a:rPr lang="ru-RU" dirty="0" smtClean="0"/>
              <a:t>М26-534</a:t>
            </a:r>
            <a:endParaRPr lang="ru-RU" dirty="0"/>
          </a:p>
          <a:p>
            <a:r>
              <a:rPr lang="ru-RU" dirty="0" smtClean="0"/>
              <a:t>Вариант </a:t>
            </a:r>
            <a:r>
              <a:rPr lang="en-US" dirty="0" smtClean="0"/>
              <a:t>1-13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" dirty="0"/>
              <a:t>Исходные данные</a:t>
            </a:r>
            <a:endParaRPr lang="es-419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/>
          <a:lstStyle/>
          <a:p>
            <a:pPr marL="0" lvl="0" indent="0">
              <a:buNone/>
              <a:defRPr sz="1600"/>
            </a:pPr>
            <a:r>
              <a:rPr lang="ru-RU" dirty="0"/>
              <a:t>Набор данных: 110 наблюдений, переменные x (вход) и y (выход).</a:t>
            </a:r>
          </a:p>
          <a:p>
            <a:pPr>
              <a:defRPr sz="1600"/>
            </a:pPr>
            <a:r>
              <a:rPr lang="ru-RU" dirty="0"/>
              <a:t>Разбиение holdout 70/30 (random_state=42): 77 обучающих, 33 тестовых.</a:t>
            </a:r>
          </a:p>
          <a:p>
            <a:pPr>
              <a:defRPr sz="1600"/>
            </a:pPr>
            <a:r>
              <a:rPr lang="ru-RU" dirty="0"/>
              <a:t>Связь приблизительно линейная, но есть группа экстремальных точек при x≈3–4.5, y≈7–8.5.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329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Используемые методы и формулы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Модель: y = β0 + β1·x + ε</a:t>
            </a:r>
            <a:endParaRPr/>
          </a:p>
          <a:p>
            <a:pPr>
              <a:defRPr sz="1600"/>
            </a:pPr>
            <a:r>
              <a:t>OLS: β1 = Σ(xi−x̄)(yi−ȳ) / Σ(xi−x̄)² ; β0 = ȳ − β1·x̄</a:t>
            </a:r>
          </a:p>
          <a:p>
            <a:pPr>
              <a:defRPr sz="1600"/>
            </a:pPr>
            <a:r>
              <a:t>R² = 1 − SSE/SST</a:t>
            </a:r>
          </a:p>
          <a:p>
            <a:pPr>
              <a:defRPr sz="1600"/>
            </a:pPr>
            <a:r>
              <a:t>Стандартизованные остатки: ri = ei / (σ̂·√(1−hi))</a:t>
            </a:r>
          </a:p>
          <a:p>
            <a:pPr>
              <a:defRPr sz="1600"/>
            </a:pPr>
            <a:r>
              <a:t>Leverage: hi (диагональ hat-матрицы)</a:t>
            </a:r>
          </a:p>
          <a:p>
            <a:pPr>
              <a:defRPr sz="1600"/>
            </a:pPr>
            <a:r>
              <a:t>Расстояние Кука: Di = (ei² / (p·σ̂²)) · hi / (1−hi)²</a:t>
            </a:r>
          </a:p>
          <a:p>
            <a:pPr>
              <a:defRPr sz="1600"/>
            </a:pPr>
            <a:r>
              <a:t>Порог фильтрации: Di &gt; 3·среднее(D)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Результаты исследований</a:t>
            </a:r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Начальная модель OLS: ŷ = −0.311776 + 0.936361·x</a:t>
            </a:r>
            <a:endParaRPr/>
          </a:p>
          <a:p>
            <a:pPr>
              <a:defRPr sz="1600"/>
            </a:pPr>
            <a:r>
              <a:t>R² обучение = 0.290399 ; R² тест = −0.935444</a:t>
            </a:r>
          </a:p>
          <a:p>
            <a:pPr>
              <a:defRPr sz="1600"/>
            </a:pPr>
            <a:r>
              <a:t>Макс |станд. остаток| = 2.513206 ; макс leverage = 0.097313 ; макс Cook = 0.125413</a:t>
            </a:r>
          </a:p>
          <a:p>
            <a:pPr>
              <a:defRPr sz="1600"/>
            </a:pPr>
            <a:r>
              <a:t>Порог Кука = 0.053161 → исключено 10 наблюдений (n обучение = 67)</a:t>
            </a:r>
          </a:p>
          <a:p>
            <a:pPr>
              <a:defRPr sz="1600"/>
            </a:pPr>
            <a:r>
              <a:t>Отфильтрованная модель: ŷ = 0.465597 + 0.186327·x</a:t>
            </a:r>
          </a:p>
          <a:p>
            <a:pPr>
              <a:defRPr sz="1600"/>
            </a:pPr>
            <a:r>
              <a:t>R² обучение = 0.067465 ; R² тест = −0.376683</a:t>
            </a:r>
          </a:p>
        </p:txBody>
      </p:sp>
      <p:pic>
        <p:nvPicPr>
          <p:cNvPr id="80" name="Picture 79" descr="01_regresion_compa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8227"/>
            <a:ext cx="2926080" cy="1942489"/>
          </a:xfrm>
          <a:prstGeom prst="rect">
            <a:avLst/>
          </a:prstGeom>
        </p:spPr>
      </p:pic>
      <p:pic>
        <p:nvPicPr>
          <p:cNvPr id="81" name="Picture 80" descr="08_cook_vs_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2988227"/>
            <a:ext cx="2926080" cy="1817787"/>
          </a:xfrm>
          <a:prstGeom prst="rect">
            <a:avLst/>
          </a:prstGeom>
        </p:spPr>
      </p:pic>
      <p:pic>
        <p:nvPicPr>
          <p:cNvPr id="82" name="Picture 81" descr="10_boxplot_compar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56647"/>
            <a:ext cx="2926080" cy="20809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267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Выводы</a:t>
            </a: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024425"/>
            <a:ext cx="8520600" cy="35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600"/>
            </a:pPr>
            <a:r>
              <a:t>1. Начальная OLS-регрессия объясняет лишь ограниченную часть вариации и плохо обобщает (R² тест отрицателен).</a:t>
            </a:r>
            <a:endParaRPr/>
          </a:p>
          <a:p>
            <a:pPr>
              <a:defRPr sz="1600"/>
            </a:pPr>
            <a:r>
              <a:t>2. Стандартизованные остатки, leverage и расстояние Кука — взаимодополняющие диагностики; ни один индикатор сам по себе не достаточен.</a:t>
            </a:r>
          </a:p>
          <a:p>
            <a:pPr>
              <a:defRPr sz="1600"/>
            </a:pPr>
            <a:r>
              <a:t>3. После удаления 10 наблюдений с Cook выше порога наклон меняется с 0.936 на 0.186: эти точки сильно влияли на прямую.</a:t>
            </a:r>
          </a:p>
          <a:p>
            <a:pPr>
              <a:defRPr sz="1600"/>
            </a:pPr>
            <a:r>
              <a:t>4. R² тест улучшается с −0.935 до −0.377, но остаётся неудовлетворительным.</a:t>
            </a:r>
          </a:p>
          <a:p>
            <a:pPr>
              <a:defRPr sz="1600"/>
            </a:pPr>
            <a:r>
              <a:t>5. Не следует автоматически удалять наблюдения: нужно проверить, ошибки ли это или законные случаи; рекомендуется исследовать нелинейные или робастные модели.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Presentación en pantalla (16:9)</PresentationFormat>
  <Paragraphs>31</Paragraphs>
  <Slides>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Линейная регрессия и обнаружение выбросов </vt:lpstr>
      <vt:lpstr>Исходные данные</vt:lpstr>
      <vt:lpstr>Используемые методы и формулы</vt:lpstr>
      <vt:lpstr>Результаты исследований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Линейная регрессия и обнаружение выбросов </dc:title>
  <cp:lastModifiedBy>Kenneth</cp:lastModifiedBy>
  <cp:revision>1</cp:revision>
  <dcterms:modified xsi:type="dcterms:W3CDTF">2026-10-19T14:56:46Z</dcterms:modified>
</cp:coreProperties>
</file>